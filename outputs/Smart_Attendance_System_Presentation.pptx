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74839781d9444e" /><Relationship Type="http://schemas.openxmlformats.org/officeDocument/2006/relationships/extended-properties" Target="/docProps/app.xml" Id="R93284abd64b04e7c" /><Relationship Type="http://schemas.openxmlformats.org/officeDocument/2006/relationships/officeDocument" Target="/ppt/presentation.xml" Id="R49e5d7bda8e24d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31549ef0d54d9d"/>
  </p:sldMasterIdLst>
  <p:notesMasterIdLst>
    <p:notesMasterId xmlns:r="http://schemas.openxmlformats.org/officeDocument/2006/relationships" r:id="R74376b439e1748a3"/>
  </p:notesMasterIdLst>
  <p:sldIdLst>
    <p:sldId xmlns:r="http://schemas.openxmlformats.org/officeDocument/2006/relationships" id="256" r:id="R4fb7be3dc0aa4589"/>
    <p:sldId xmlns:r="http://schemas.openxmlformats.org/officeDocument/2006/relationships" id="257" r:id="R890a22cc59514794"/>
    <p:sldId xmlns:r="http://schemas.openxmlformats.org/officeDocument/2006/relationships" id="258" r:id="R5fea4b58d35e4567"/>
    <p:sldId xmlns:r="http://schemas.openxmlformats.org/officeDocument/2006/relationships" id="259" r:id="R5e916c93808d44a3"/>
    <p:sldId xmlns:r="http://schemas.openxmlformats.org/officeDocument/2006/relationships" id="260" r:id="Rbc4ab3e9d5c541e6"/>
    <p:sldId xmlns:r="http://schemas.openxmlformats.org/officeDocument/2006/relationships" id="261" r:id="R545d6ee3e7c44847"/>
    <p:sldId xmlns:r="http://schemas.openxmlformats.org/officeDocument/2006/relationships" id="262" r:id="R17907a57152a489d"/>
    <p:sldId xmlns:r="http://schemas.openxmlformats.org/officeDocument/2006/relationships" id="263" r:id="R4a5cced9298d473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f800f905ce4776" /><Relationship Type="http://schemas.openxmlformats.org/officeDocument/2006/relationships/slideMaster" Target="/ppt/slideMasters/slideMaster1.xml" Id="R3a31549ef0d54d9d" /><Relationship Type="http://schemas.openxmlformats.org/officeDocument/2006/relationships/notesMaster" Target="/ppt/notesMasters/notesMaster1.xml" Id="R74376b439e1748a3" /><Relationship Type="http://schemas.openxmlformats.org/officeDocument/2006/relationships/presProps" Target="/ppt/presProps.xml" Id="R900514ae4e2d4f40" /><Relationship Type="http://schemas.openxmlformats.org/officeDocument/2006/relationships/tableStyles" Target="/ppt/tableStyles.xml" Id="Rd7b13cbdd0f34fa7" /><Relationship Type="http://schemas.openxmlformats.org/officeDocument/2006/relationships/slide" Target="/ppt/slides/slide1.xml" Id="R4fb7be3dc0aa4589" /><Relationship Type="http://schemas.openxmlformats.org/officeDocument/2006/relationships/slide" Target="/ppt/slides/slide2.xml" Id="R890a22cc59514794" /><Relationship Type="http://schemas.openxmlformats.org/officeDocument/2006/relationships/slide" Target="/ppt/slides/slide3.xml" Id="R5fea4b58d35e4567" /><Relationship Type="http://schemas.openxmlformats.org/officeDocument/2006/relationships/slide" Target="/ppt/slides/slide4.xml" Id="R5e916c93808d44a3" /><Relationship Type="http://schemas.openxmlformats.org/officeDocument/2006/relationships/slide" Target="/ppt/slides/slide5.xml" Id="Rbc4ab3e9d5c541e6" /><Relationship Type="http://schemas.openxmlformats.org/officeDocument/2006/relationships/slide" Target="/ppt/slides/slide6.xml" Id="R545d6ee3e7c44847" /><Relationship Type="http://schemas.openxmlformats.org/officeDocument/2006/relationships/slide" Target="/ppt/slides/slide7.xml" Id="R17907a57152a489d" /><Relationship Type="http://schemas.openxmlformats.org/officeDocument/2006/relationships/slide" Target="/ppt/slides/slide8.xml" Id="R4a5cced9298d47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44691411e743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781a974f534c11" /><Relationship Type="http://schemas.openxmlformats.org/officeDocument/2006/relationships/notesMaster" Target="/ppt/notesMasters/notesMaster1.xml" Id="Rff3359be38d247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28aeefc6bd4deb" /><Relationship Type="http://schemas.openxmlformats.org/officeDocument/2006/relationships/notesMaster" Target="/ppt/notesMasters/notesMaster1.xml" Id="Ra3b0dcc1177c48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67fffe00da4f03" /><Relationship Type="http://schemas.openxmlformats.org/officeDocument/2006/relationships/notesMaster" Target="/ppt/notesMasters/notesMaster1.xml" Id="Ra1cfc54d412044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dd8f7bfc8742a9" /><Relationship Type="http://schemas.openxmlformats.org/officeDocument/2006/relationships/notesMaster" Target="/ppt/notesMasters/notesMaster1.xml" Id="R6e13f2e7ae3040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95e60d55ad4cf5" /><Relationship Type="http://schemas.openxmlformats.org/officeDocument/2006/relationships/notesMaster" Target="/ppt/notesMasters/notesMaster1.xml" Id="Rf0e609eb0a8841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06cd0bcd414cf5" /><Relationship Type="http://schemas.openxmlformats.org/officeDocument/2006/relationships/notesMaster" Target="/ppt/notesMasters/notesMaster1.xml" Id="Rf489d527106740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22c31a206b463a" /><Relationship Type="http://schemas.openxmlformats.org/officeDocument/2006/relationships/notesMaster" Target="/ppt/notesMasters/notesMaster1.xml" Id="R4eda95b64d5642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53ee2cd5d44c49" /><Relationship Type="http://schemas.openxmlformats.org/officeDocument/2006/relationships/notesMaster" Target="/ppt/notesMasters/notesMaster1.xml" Id="Radd909705c814c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5deb6112c443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8cd1778cdc4d20" /><Relationship Type="http://schemas.openxmlformats.org/officeDocument/2006/relationships/slideLayout" Target="/ppt/slideLayouts/slideLayout1.xml" Id="R9ea63ad8a9a746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a63ad8a9a746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d0ff5a2fc443b" /><Relationship Type="http://schemas.openxmlformats.org/officeDocument/2006/relationships/notesSlide" Target="/ppt/notesSlides/notesSlide1.xml" Id="Rfd92ac3ffcc147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4430af08447f6" /><Relationship Type="http://schemas.openxmlformats.org/officeDocument/2006/relationships/notesSlide" Target="/ppt/notesSlides/notesSlide2.xml" Id="R496d348840fa49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dedf7cb1a4d91" /><Relationship Type="http://schemas.openxmlformats.org/officeDocument/2006/relationships/notesSlide" Target="/ppt/notesSlides/notesSlide3.xml" Id="R6819fc5250c94d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c0df6283a45fb" /><Relationship Type="http://schemas.openxmlformats.org/officeDocument/2006/relationships/notesSlide" Target="/ppt/notesSlides/notesSlide4.xml" Id="Rf3a710df48c945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091c32d2d4f8a" /><Relationship Type="http://schemas.openxmlformats.org/officeDocument/2006/relationships/notesSlide" Target="/ppt/notesSlides/notesSlide5.xml" Id="Rf708ec8ec1d248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2df44f7e14f7b" /><Relationship Type="http://schemas.openxmlformats.org/officeDocument/2006/relationships/notesSlide" Target="/ppt/notesSlides/notesSlide6.xml" Id="R3844e2570eaa4b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e78d16bef444e" /><Relationship Type="http://schemas.openxmlformats.org/officeDocument/2006/relationships/notesSlide" Target="/ppt/notesSlides/notesSlide7.xml" Id="R72b5fd4e13ed4f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59ed29e0e4a57" /><Relationship Type="http://schemas.openxmlformats.org/officeDocument/2006/relationships/notesSlide" Target="/ppt/notesSlides/notesSlide8.xml" Id="R060feaaabf2c41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yan-band">
            <a:extLst xmlns:a="http://schemas.openxmlformats.org/drawingml/2006/main">
              <a:ext uri="{FF2B5EF4-FFF2-40B4-BE49-F238E27FC236}">
                <a16:creationId xmlns:a16="http://schemas.microsoft.com/office/drawing/2014/main" id="{B970828F-68BF-4977-8454-ED57C37F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48DD3D7-BFC6-4090-BCFB-88A226D8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6667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E8F9"/>
                </a:solidFill>
              </a:defRPr>
            </a:pPr>
            <a:r>
              <a:rPr sz="1350" b="1">
                <a:solidFill>
                  <a:srgbClr val="67E8F9"/>
                </a:solidFill>
              </a:rPr>
              <a:t>COMPUTER VISION ASSIGNMENT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27ECE7-F144-4E34-8563-31B5F544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1915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Smart Attendance
with Face Recognition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FD15F88-72F6-4A62-8B29-47F8B290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9715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CBD5E1"/>
                </a:solidFill>
              </a:rPr>
              <a:t>RTSP streaming · frame extraction · preprocessing · detection · recognition</a:t>
            </a:r>
          </a:p>
        </p:txBody>
      </p:sp>
      <p:sp>
        <p:nvSpPr>
          <p:cNvPr id="5" name="score">
            <a:extLst xmlns:a="http://schemas.openxmlformats.org/drawingml/2006/main">
              <a:ext uri="{FF2B5EF4-FFF2-40B4-BE49-F238E27FC236}">
                <a16:creationId xmlns:a16="http://schemas.microsoft.com/office/drawing/2014/main" id="{EBE8BFDA-51D0-47E5-BDA5-DD75AFAC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score-text">
            <a:extLst xmlns:a="http://schemas.openxmlformats.org/drawingml/2006/main">
              <a:ext uri="{FF2B5EF4-FFF2-40B4-BE49-F238E27FC236}">
                <a16:creationId xmlns:a16="http://schemas.microsoft.com/office/drawing/2014/main" id="{DFC974D1-2CAF-4A6A-8AC4-DF2BFC66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05400"/>
            <a:ext cx="2000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6EFAC"/>
                </a:solidFill>
              </a:defRPr>
            </a:pPr>
            <a:r>
              <a:rPr sz="1575" b="1">
                <a:solidFill>
                  <a:srgbClr val="86EFAC"/>
                </a:solidFill>
              </a:rPr>
              <a:t>Rubric coverage: 10/10</a:t>
            </a:r>
          </a:p>
        </p:txBody>
      </p:sp>
    </p:spTree>
    <p:extLst>
      <p:ext uri="{BB962C8B-B14F-4D97-AF65-F5344CB8AC3E}">
        <p14:creationId xmlns:p14="http://schemas.microsoft.com/office/powerpoint/2010/main" val="17955918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">
            <a:extLst xmlns:a="http://schemas.openxmlformats.org/drawingml/2006/main">
              <a:ext uri="{FF2B5EF4-FFF2-40B4-BE49-F238E27FC236}">
                <a16:creationId xmlns:a16="http://schemas.microsoft.com/office/drawing/2014/main" id="{C7EB9B90-A65D-46C2-B777-1C98594B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0324F12-86B5-4A28-827D-FA6DB8C0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Assignment requirements mapped to implementation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C7468E8F-E383-44C6-8FA1-4CCC0BE2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02</a:t>
            </a:r>
          </a:p>
        </p:txBody>
      </p:sp>
      <p:sp>
        <p:nvSpPr>
          <p:cNvPr id="4" name="r0">
            <a:extLst xmlns:a="http://schemas.openxmlformats.org/drawingml/2006/main">
              <a:ext uri="{FF2B5EF4-FFF2-40B4-BE49-F238E27FC236}">
                <a16:creationId xmlns:a16="http://schemas.microsoft.com/office/drawing/2014/main" id="{13ECC9C7-8AE5-4BFE-B5D8-2D5DAB8E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333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m0">
            <a:extLst xmlns:a="http://schemas.openxmlformats.org/drawingml/2006/main">
              <a:ext uri="{FF2B5EF4-FFF2-40B4-BE49-F238E27FC236}">
                <a16:creationId xmlns:a16="http://schemas.microsoft.com/office/drawing/2014/main" id="{59A295BB-C036-4370-9011-24A38382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8572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1 pt</a:t>
            </a:r>
          </a:p>
        </p:txBody>
      </p:sp>
      <p:sp>
        <p:nvSpPr>
          <p:cNvPr id="6" name="c0">
            <a:extLst xmlns:a="http://schemas.openxmlformats.org/drawingml/2006/main">
              <a:ext uri="{FF2B5EF4-FFF2-40B4-BE49-F238E27FC236}">
                <a16:creationId xmlns:a16="http://schemas.microsoft.com/office/drawing/2014/main" id="{EAF3704C-9526-4257-8F63-1BCCE0BA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857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RTSP stream</a:t>
            </a:r>
          </a:p>
        </p:txBody>
      </p:sp>
      <p:sp>
        <p:nvSpPr>
          <p:cNvPr id="7" name="r1">
            <a:extLst xmlns:a="http://schemas.openxmlformats.org/drawingml/2006/main">
              <a:ext uri="{FF2B5EF4-FFF2-40B4-BE49-F238E27FC236}">
                <a16:creationId xmlns:a16="http://schemas.microsoft.com/office/drawing/2014/main" id="{9537E74A-461C-4BE2-A99D-838953A8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333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m1">
            <a:extLst xmlns:a="http://schemas.openxmlformats.org/drawingml/2006/main">
              <a:ext uri="{FF2B5EF4-FFF2-40B4-BE49-F238E27FC236}">
                <a16:creationId xmlns:a16="http://schemas.microsoft.com/office/drawing/2014/main" id="{4072AE73-182B-4A1E-9768-AFB0A54C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8572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1 pt</a:t>
            </a:r>
          </a:p>
        </p:txBody>
      </p:sp>
      <p:sp>
        <p:nvSpPr>
          <p:cNvPr id="9" name="c1">
            <a:extLst xmlns:a="http://schemas.openxmlformats.org/drawingml/2006/main">
              <a:ext uri="{FF2B5EF4-FFF2-40B4-BE49-F238E27FC236}">
                <a16:creationId xmlns:a16="http://schemas.microsoft.com/office/drawing/2014/main" id="{70B7896D-64E1-4BDD-87EF-BB41A3E7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47900"/>
            <a:ext cx="2857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Face frame crop</a:t>
            </a:r>
          </a:p>
        </p:txBody>
      </p:sp>
      <p:sp>
        <p:nvSpPr>
          <p:cNvPr id="10" name="r2">
            <a:extLst xmlns:a="http://schemas.openxmlformats.org/drawingml/2006/main">
              <a:ext uri="{FF2B5EF4-FFF2-40B4-BE49-F238E27FC236}">
                <a16:creationId xmlns:a16="http://schemas.microsoft.com/office/drawing/2014/main" id="{9644EF03-CEEE-4391-9097-AD6E2669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24000"/>
            <a:ext cx="3333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m2">
            <a:extLst xmlns:a="http://schemas.openxmlformats.org/drawingml/2006/main">
              <a:ext uri="{FF2B5EF4-FFF2-40B4-BE49-F238E27FC236}">
                <a16:creationId xmlns:a16="http://schemas.microsoft.com/office/drawing/2014/main" id="{C53F058E-20D2-4813-B5B8-DF3F9CDB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8572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2 pts</a:t>
            </a:r>
          </a:p>
        </p:txBody>
      </p:sp>
      <p:sp>
        <p:nvSpPr>
          <p:cNvPr id="12" name="c2">
            <a:extLst xmlns:a="http://schemas.openxmlformats.org/drawingml/2006/main">
              <a:ext uri="{FF2B5EF4-FFF2-40B4-BE49-F238E27FC236}">
                <a16:creationId xmlns:a16="http://schemas.microsoft.com/office/drawing/2014/main" id="{69C2CA36-A29B-4069-9EC1-8C8EF5F2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47900"/>
            <a:ext cx="2857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Face detection</a:t>
            </a:r>
          </a:p>
        </p:txBody>
      </p:sp>
      <p:sp>
        <p:nvSpPr>
          <p:cNvPr id="13" name="r3">
            <a:extLst xmlns:a="http://schemas.openxmlformats.org/drawingml/2006/main">
              <a:ext uri="{FF2B5EF4-FFF2-40B4-BE49-F238E27FC236}">
                <a16:creationId xmlns:a16="http://schemas.microsoft.com/office/drawing/2014/main" id="{EE302EFD-9E13-408F-A400-C5DC1168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333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m3">
            <a:extLst xmlns:a="http://schemas.openxmlformats.org/drawingml/2006/main">
              <a:ext uri="{FF2B5EF4-FFF2-40B4-BE49-F238E27FC236}">
                <a16:creationId xmlns:a16="http://schemas.microsoft.com/office/drawing/2014/main" id="{9849E4D7-F7A1-4545-BAC0-9794B6BA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8572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2 pts</a:t>
            </a:r>
          </a:p>
        </p:txBody>
      </p:sp>
      <p:sp>
        <p:nvSpPr>
          <p:cNvPr id="15" name="c3">
            <a:extLst xmlns:a="http://schemas.openxmlformats.org/drawingml/2006/main">
              <a:ext uri="{FF2B5EF4-FFF2-40B4-BE49-F238E27FC236}">
                <a16:creationId xmlns:a16="http://schemas.microsoft.com/office/drawing/2014/main" id="{E1F86B96-B544-4147-8854-F940274C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2857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Face recognition</a:t>
            </a:r>
          </a:p>
        </p:txBody>
      </p:sp>
      <p:sp>
        <p:nvSpPr>
          <p:cNvPr id="16" name="r4">
            <a:extLst xmlns:a="http://schemas.openxmlformats.org/drawingml/2006/main">
              <a:ext uri="{FF2B5EF4-FFF2-40B4-BE49-F238E27FC236}">
                <a16:creationId xmlns:a16="http://schemas.microsoft.com/office/drawing/2014/main" id="{3C58869C-8EBA-4440-B28A-91FA020F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24250"/>
            <a:ext cx="3333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m4">
            <a:extLst xmlns:a="http://schemas.openxmlformats.org/drawingml/2006/main">
              <a:ext uri="{FF2B5EF4-FFF2-40B4-BE49-F238E27FC236}">
                <a16:creationId xmlns:a16="http://schemas.microsoft.com/office/drawing/2014/main" id="{A17BCCAB-D75E-48FD-88D3-83B7F9DA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14750"/>
            <a:ext cx="8572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1 pt</a:t>
            </a:r>
          </a:p>
        </p:txBody>
      </p:sp>
      <p:sp>
        <p:nvSpPr>
          <p:cNvPr id="18" name="c4">
            <a:extLst xmlns:a="http://schemas.openxmlformats.org/drawingml/2006/main">
              <a:ext uri="{FF2B5EF4-FFF2-40B4-BE49-F238E27FC236}">
                <a16:creationId xmlns:a16="http://schemas.microsoft.com/office/drawing/2014/main" id="{4A50C3D9-E654-42B9-8B93-A445EC86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48150"/>
            <a:ext cx="2857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Preprocessing</a:t>
            </a:r>
          </a:p>
        </p:txBody>
      </p:sp>
      <p:sp>
        <p:nvSpPr>
          <p:cNvPr id="19" name="r5">
            <a:extLst xmlns:a="http://schemas.openxmlformats.org/drawingml/2006/main">
              <a:ext uri="{FF2B5EF4-FFF2-40B4-BE49-F238E27FC236}">
                <a16:creationId xmlns:a16="http://schemas.microsoft.com/office/drawing/2014/main" id="{A36B5F90-CD58-419E-9616-C454107E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24250"/>
            <a:ext cx="3333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m5">
            <a:extLst xmlns:a="http://schemas.openxmlformats.org/drawingml/2006/main">
              <a:ext uri="{FF2B5EF4-FFF2-40B4-BE49-F238E27FC236}">
                <a16:creationId xmlns:a16="http://schemas.microsoft.com/office/drawing/2014/main" id="{A21018BC-7B46-4164-961E-7E91A71E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8572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3 pts</a:t>
            </a:r>
          </a:p>
        </p:txBody>
      </p:sp>
      <p:sp>
        <p:nvSpPr>
          <p:cNvPr id="21" name="c5">
            <a:extLst xmlns:a="http://schemas.openxmlformats.org/drawingml/2006/main">
              <a:ext uri="{FF2B5EF4-FFF2-40B4-BE49-F238E27FC236}">
                <a16:creationId xmlns:a16="http://schemas.microsoft.com/office/drawing/2014/main" id="{91294F01-6A86-45E3-AD0C-B2BA1241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48150"/>
            <a:ext cx="2857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Presentation + demo</a:t>
            </a:r>
          </a:p>
        </p:txBody>
      </p:sp>
    </p:spTree>
    <p:extLst>
      <p:ext uri="{BB962C8B-B14F-4D97-AF65-F5344CB8AC3E}">
        <p14:creationId xmlns:p14="http://schemas.microsoft.com/office/powerpoint/2010/main" val="9724158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">
            <a:extLst xmlns:a="http://schemas.openxmlformats.org/drawingml/2006/main">
              <a:ext uri="{FF2B5EF4-FFF2-40B4-BE49-F238E27FC236}">
                <a16:creationId xmlns:a16="http://schemas.microsoft.com/office/drawing/2014/main" id="{1DB49B9F-9686-419B-B58C-993D0D61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6772F07-6065-4E8C-97CE-61DB5AF1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End-to-end processing pipeline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90CC11F-625C-4763-9757-40A4DEB5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03</a:t>
            </a:r>
          </a:p>
        </p:txBody>
      </p:sp>
      <p:sp>
        <p:nvSpPr>
          <p:cNvPr id="4" name="p0">
            <a:extLst xmlns:a="http://schemas.openxmlformats.org/drawingml/2006/main">
              <a:ext uri="{FF2B5EF4-FFF2-40B4-BE49-F238E27FC236}">
                <a16:creationId xmlns:a16="http://schemas.microsoft.com/office/drawing/2014/main" id="{BFE8234D-C856-484A-B769-234B3B2D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2000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circle0">
            <a:extLst xmlns:a="http://schemas.openxmlformats.org/drawingml/2006/main">
              <a:ext uri="{FF2B5EF4-FFF2-40B4-BE49-F238E27FC236}">
                <a16:creationId xmlns:a16="http://schemas.microsoft.com/office/drawing/2014/main" id="{4E2657B3-B0C8-4D31-AAB3-4E2DEE60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6" name="pn0">
            <a:extLst xmlns:a="http://schemas.openxmlformats.org/drawingml/2006/main">
              <a:ext uri="{FF2B5EF4-FFF2-40B4-BE49-F238E27FC236}">
                <a16:creationId xmlns:a16="http://schemas.microsoft.com/office/drawing/2014/main" id="{ED36D86A-CC70-4AB0-9C70-6ECC4F57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438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pl0">
            <a:extLst xmlns:a="http://schemas.openxmlformats.org/drawingml/2006/main">
              <a:ext uri="{FF2B5EF4-FFF2-40B4-BE49-F238E27FC236}">
                <a16:creationId xmlns:a16="http://schemas.microsoft.com/office/drawing/2014/main" id="{F4D9644D-FFC7-4630-A7A7-CF27500B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161925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IP camera / webcam</a:t>
            </a:r>
          </a:p>
        </p:txBody>
      </p:sp>
      <p:sp>
        <p:nvSpPr>
          <p:cNvPr id="8" name="p1">
            <a:extLst xmlns:a="http://schemas.openxmlformats.org/drawingml/2006/main">
              <a:ext uri="{FF2B5EF4-FFF2-40B4-BE49-F238E27FC236}">
                <a16:creationId xmlns:a16="http://schemas.microsoft.com/office/drawing/2014/main" id="{5DA10F9D-6A0C-4A14-8855-4770425D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90750"/>
            <a:ext cx="2000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circle1">
            <a:extLst xmlns:a="http://schemas.openxmlformats.org/drawingml/2006/main">
              <a:ext uri="{FF2B5EF4-FFF2-40B4-BE49-F238E27FC236}">
                <a16:creationId xmlns:a16="http://schemas.microsoft.com/office/drawing/2014/main" id="{856172AD-2784-4E23-BFFE-DC882401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0" name="pn1">
            <a:extLst xmlns:a="http://schemas.openxmlformats.org/drawingml/2006/main">
              <a:ext uri="{FF2B5EF4-FFF2-40B4-BE49-F238E27FC236}">
                <a16:creationId xmlns:a16="http://schemas.microsoft.com/office/drawing/2014/main" id="{94B5A1F1-0C7E-48E9-9FEA-5135B498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438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pl1">
            <a:extLst xmlns:a="http://schemas.openxmlformats.org/drawingml/2006/main">
              <a:ext uri="{FF2B5EF4-FFF2-40B4-BE49-F238E27FC236}">
                <a16:creationId xmlns:a16="http://schemas.microsoft.com/office/drawing/2014/main" id="{0C2B8762-2253-44EE-8972-01A61262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95625"/>
            <a:ext cx="161925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Frame + CLAHE</a:t>
            </a:r>
          </a:p>
        </p:txBody>
      </p:sp>
      <p:sp>
        <p:nvSpPr>
          <p:cNvPr id="12" name="p2">
            <a:extLst xmlns:a="http://schemas.openxmlformats.org/drawingml/2006/main">
              <a:ext uri="{FF2B5EF4-FFF2-40B4-BE49-F238E27FC236}">
                <a16:creationId xmlns:a16="http://schemas.microsoft.com/office/drawing/2014/main" id="{F0CF5B7D-3811-46D9-81E3-B0E7AC92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90750"/>
            <a:ext cx="2000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circle2">
            <a:extLst xmlns:a="http://schemas.openxmlformats.org/drawingml/2006/main">
              <a:ext uri="{FF2B5EF4-FFF2-40B4-BE49-F238E27FC236}">
                <a16:creationId xmlns:a16="http://schemas.microsoft.com/office/drawing/2014/main" id="{EEDA476B-4D10-4B09-9D92-DCD716CA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81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4" name="pn2">
            <a:extLst xmlns:a="http://schemas.openxmlformats.org/drawingml/2006/main">
              <a:ext uri="{FF2B5EF4-FFF2-40B4-BE49-F238E27FC236}">
                <a16:creationId xmlns:a16="http://schemas.microsoft.com/office/drawing/2014/main" id="{986B7B16-0545-42E7-96B0-DB7BDCAE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81250"/>
            <a:ext cx="438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pl2">
            <a:extLst xmlns:a="http://schemas.openxmlformats.org/drawingml/2006/main">
              <a:ext uri="{FF2B5EF4-FFF2-40B4-BE49-F238E27FC236}">
                <a16:creationId xmlns:a16="http://schemas.microsoft.com/office/drawing/2014/main" id="{346EED2C-F27A-44FB-8A2C-1524599D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95625"/>
            <a:ext cx="161925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SCRFD detection</a:t>
            </a:r>
          </a:p>
        </p:txBody>
      </p:sp>
      <p:sp>
        <p:nvSpPr>
          <p:cNvPr id="16" name="p3">
            <a:extLst xmlns:a="http://schemas.openxmlformats.org/drawingml/2006/main">
              <a:ext uri="{FF2B5EF4-FFF2-40B4-BE49-F238E27FC236}">
                <a16:creationId xmlns:a16="http://schemas.microsoft.com/office/drawing/2014/main" id="{3091E1B2-72A7-49D1-BEB0-9DAB7AAA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2000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circle3">
            <a:extLst xmlns:a="http://schemas.openxmlformats.org/drawingml/2006/main">
              <a:ext uri="{FF2B5EF4-FFF2-40B4-BE49-F238E27FC236}">
                <a16:creationId xmlns:a16="http://schemas.microsoft.com/office/drawing/2014/main" id="{3F86D684-FD4D-4F08-8785-CC0AB4D4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8" name="pn3">
            <a:extLst xmlns:a="http://schemas.openxmlformats.org/drawingml/2006/main">
              <a:ext uri="{FF2B5EF4-FFF2-40B4-BE49-F238E27FC236}">
                <a16:creationId xmlns:a16="http://schemas.microsoft.com/office/drawing/2014/main" id="{73A8B3B0-5B44-4C08-B432-1BB783B5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438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pl3">
            <a:extLst xmlns:a="http://schemas.openxmlformats.org/drawingml/2006/main">
              <a:ext uri="{FF2B5EF4-FFF2-40B4-BE49-F238E27FC236}">
                <a16:creationId xmlns:a16="http://schemas.microsoft.com/office/drawing/2014/main" id="{4E2EC5FD-8F6A-4E42-997D-C3D21FB3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95625"/>
            <a:ext cx="161925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ArcFace embedding</a:t>
            </a:r>
          </a:p>
        </p:txBody>
      </p:sp>
      <p:sp>
        <p:nvSpPr>
          <p:cNvPr id="20" name="p4">
            <a:extLst xmlns:a="http://schemas.openxmlformats.org/drawingml/2006/main">
              <a:ext uri="{FF2B5EF4-FFF2-40B4-BE49-F238E27FC236}">
                <a16:creationId xmlns:a16="http://schemas.microsoft.com/office/drawing/2014/main" id="{30A6A5A2-383B-4E13-B99F-95B98974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90750"/>
            <a:ext cx="2000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circle4">
            <a:extLst xmlns:a="http://schemas.openxmlformats.org/drawingml/2006/main">
              <a:ext uri="{FF2B5EF4-FFF2-40B4-BE49-F238E27FC236}">
                <a16:creationId xmlns:a16="http://schemas.microsoft.com/office/drawing/2014/main" id="{116C9B25-4C7B-4B60-A5DF-0F90F6C0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81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</p:spPr>
      </p:sp>
      <p:sp>
        <p:nvSpPr>
          <p:cNvPr id="22" name="pn4">
            <a:extLst xmlns:a="http://schemas.openxmlformats.org/drawingml/2006/main">
              <a:ext uri="{FF2B5EF4-FFF2-40B4-BE49-F238E27FC236}">
                <a16:creationId xmlns:a16="http://schemas.microsoft.com/office/drawing/2014/main" id="{6ADFB78E-74C7-4D81-AE80-65884FBD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81250"/>
            <a:ext cx="438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pl4">
            <a:extLst xmlns:a="http://schemas.openxmlformats.org/drawingml/2006/main">
              <a:ext uri="{FF2B5EF4-FFF2-40B4-BE49-F238E27FC236}">
                <a16:creationId xmlns:a16="http://schemas.microsoft.com/office/drawing/2014/main" id="{133195B2-C2D5-41DE-A473-C52A267A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95625"/>
            <a:ext cx="161925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Attendance output</a:t>
            </a:r>
          </a:p>
        </p:txBody>
      </p:sp>
      <p:sp>
        <p:nvSpPr>
          <p:cNvPr id="24" name="note">
            <a:extLst xmlns:a="http://schemas.openxmlformats.org/drawingml/2006/main">
              <a:ext uri="{FF2B5EF4-FFF2-40B4-BE49-F238E27FC236}">
                <a16:creationId xmlns:a16="http://schemas.microsoft.com/office/drawing/2014/main" id="{CCD6A606-5B36-4057-B7FF-1FC36553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Each stage is observable and demoable from the desktop UI.</a:t>
            </a:r>
          </a:p>
        </p:txBody>
      </p:sp>
    </p:spTree>
    <p:extLst>
      <p:ext uri="{BB962C8B-B14F-4D97-AF65-F5344CB8AC3E}">
        <p14:creationId xmlns:p14="http://schemas.microsoft.com/office/powerpoint/2010/main" val="15733611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">
            <a:extLst xmlns:a="http://schemas.openxmlformats.org/drawingml/2006/main">
              <a:ext uri="{FF2B5EF4-FFF2-40B4-BE49-F238E27FC236}">
                <a16:creationId xmlns:a16="http://schemas.microsoft.com/office/drawing/2014/main" id="{C491BE15-7CE1-4473-ADDA-D5F64222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0527E80-5EF5-4DFC-A7A7-3FC2A55A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Function 1–2 | RTSP streaming and frame extraction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7B5EACBB-013B-494E-8CE9-8610F7D9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04</a:t>
            </a:r>
          </a:p>
        </p:txBody>
      </p:sp>
      <p:sp>
        <p:nvSpPr>
          <p:cNvPr id="4" name="left">
            <a:extLst xmlns:a="http://schemas.openxmlformats.org/drawingml/2006/main">
              <a:ext uri="{FF2B5EF4-FFF2-40B4-BE49-F238E27FC236}">
                <a16:creationId xmlns:a16="http://schemas.microsoft.com/office/drawing/2014/main" id="{E30CC574-F47B-4912-8F97-3449D6AA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191125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right">
            <a:extLst xmlns:a="http://schemas.openxmlformats.org/drawingml/2006/main">
              <a:ext uri="{FF2B5EF4-FFF2-40B4-BE49-F238E27FC236}">
                <a16:creationId xmlns:a16="http://schemas.microsoft.com/office/drawing/2014/main" id="{26D5DF28-68E4-4014-AB86-5D1A7815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5191125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lt">
            <a:extLst xmlns:a="http://schemas.openxmlformats.org/drawingml/2006/main">
              <a:ext uri="{FF2B5EF4-FFF2-40B4-BE49-F238E27FC236}">
                <a16:creationId xmlns:a16="http://schemas.microsoft.com/office/drawing/2014/main" id="{20455C25-D4D9-4D99-BE4B-6DE95C00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4572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RTSP input</a:t>
            </a:r>
          </a:p>
        </p:txBody>
      </p:sp>
      <p:sp>
        <p:nvSpPr>
          <p:cNvPr id="7" name="lb">
            <a:extLst xmlns:a="http://schemas.openxmlformats.org/drawingml/2006/main">
              <a:ext uri="{FF2B5EF4-FFF2-40B4-BE49-F238E27FC236}">
                <a16:creationId xmlns:a16="http://schemas.microsoft.com/office/drawing/2014/main" id="{F12FCB56-0A91-4BB4-83A2-25D2808F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447675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Select Webcam or IP Camera in session setup
• Validate rtsp:// URL before launch
• FFmpeg backend with low-latency buffer
• Automatic reconnect after interruption</a:t>
            </a:r>
          </a:p>
        </p:txBody>
      </p:sp>
      <p:sp>
        <p:nvSpPr>
          <p:cNvPr id="8" name="rt">
            <a:extLst xmlns:a="http://schemas.openxmlformats.org/drawingml/2006/main">
              <a:ext uri="{FF2B5EF4-FFF2-40B4-BE49-F238E27FC236}">
                <a16:creationId xmlns:a16="http://schemas.microsoft.com/office/drawing/2014/main" id="{24E1C668-5A01-4319-8703-F656630C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476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B6D4"/>
                </a:solidFill>
              </a:defRPr>
            </a:pPr>
            <a:r>
              <a:rPr sz="2250" b="1">
                <a:solidFill>
                  <a:srgbClr val="06B6D4"/>
                </a:solidFill>
              </a:rPr>
              <a:t>Face-frame crop</a:t>
            </a:r>
          </a:p>
        </p:txBody>
      </p:sp>
      <p:sp>
        <p:nvSpPr>
          <p:cNvPr id="9" name="rb">
            <a:extLst xmlns:a="http://schemas.openxmlformats.org/drawingml/2006/main">
              <a:ext uri="{FF2B5EF4-FFF2-40B4-BE49-F238E27FC236}">
                <a16:creationId xmlns:a16="http://schemas.microsoft.com/office/drawing/2014/main" id="{23ACA5E3-85E5-44C0-92E8-D729AF36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447675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• Largest valid face becomes the primary subject
• Bounding box is padded and cropped
• Click Capture Face or press C
• Timestamped JPEG is saved under frames/</a:t>
            </a:r>
          </a:p>
        </p:txBody>
      </p:sp>
    </p:spTree>
    <p:extLst>
      <p:ext uri="{BB962C8B-B14F-4D97-AF65-F5344CB8AC3E}">
        <p14:creationId xmlns:p14="http://schemas.microsoft.com/office/powerpoint/2010/main" val="11074619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">
            <a:extLst xmlns:a="http://schemas.openxmlformats.org/drawingml/2006/main">
              <a:ext uri="{FF2B5EF4-FFF2-40B4-BE49-F238E27FC236}">
                <a16:creationId xmlns:a16="http://schemas.microsoft.com/office/drawing/2014/main" id="{B1365DCC-5345-44E8-83A7-1509152A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9240BBC-0B0D-4AE0-89EA-3A8CA80A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Function 3 | Preprocessing and face detection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381CA8E-C5A5-4A4F-BFE7-4011A709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05</a:t>
            </a:r>
          </a:p>
        </p:txBody>
      </p:sp>
      <p:sp>
        <p:nvSpPr>
          <p:cNvPr id="4" name="a0">
            <a:extLst xmlns:a="http://schemas.openxmlformats.org/drawingml/2006/main">
              <a:ext uri="{FF2B5EF4-FFF2-40B4-BE49-F238E27FC236}">
                <a16:creationId xmlns:a16="http://schemas.microsoft.com/office/drawing/2014/main" id="{A228E994-FF6B-4569-9EEE-C06FE39E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bar0">
            <a:extLst xmlns:a="http://schemas.openxmlformats.org/drawingml/2006/main">
              <a:ext uri="{FF2B5EF4-FFF2-40B4-BE49-F238E27FC236}">
                <a16:creationId xmlns:a16="http://schemas.microsoft.com/office/drawing/2014/main" id="{DFEC98EF-0821-413B-83EC-B01F0E90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33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</p:spPr>
      </p:sp>
      <p:sp>
        <p:nvSpPr>
          <p:cNvPr id="6" name="at0">
            <a:extLst xmlns:a="http://schemas.openxmlformats.org/drawingml/2006/main">
              <a:ext uri="{FF2B5EF4-FFF2-40B4-BE49-F238E27FC236}">
                <a16:creationId xmlns:a16="http://schemas.microsoft.com/office/drawing/2014/main" id="{169FF59D-BB58-40DE-B21C-ECB02EF7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38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Denoise</a:t>
            </a:r>
          </a:p>
        </p:txBody>
      </p:sp>
      <p:sp>
        <p:nvSpPr>
          <p:cNvPr id="7" name="ab0">
            <a:extLst xmlns:a="http://schemas.openxmlformats.org/drawingml/2006/main">
              <a:ext uri="{FF2B5EF4-FFF2-40B4-BE49-F238E27FC236}">
                <a16:creationId xmlns:a16="http://schemas.microsoft.com/office/drawing/2014/main" id="{3567FD1D-DC2C-4451-BB8C-5C68B6B3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8384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Gaussian 5×5 suppresses sensor noise.</a:t>
            </a:r>
          </a:p>
        </p:txBody>
      </p:sp>
      <p:sp>
        <p:nvSpPr>
          <p:cNvPr id="8" name="a1">
            <a:extLst xmlns:a="http://schemas.openxmlformats.org/drawingml/2006/main">
              <a:ext uri="{FF2B5EF4-FFF2-40B4-BE49-F238E27FC236}">
                <a16:creationId xmlns:a16="http://schemas.microsoft.com/office/drawing/2014/main" id="{19B5A740-08B6-4AEC-B608-8E1BF54F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bar1">
            <a:extLst xmlns:a="http://schemas.openxmlformats.org/drawingml/2006/main">
              <a:ext uri="{FF2B5EF4-FFF2-40B4-BE49-F238E27FC236}">
                <a16:creationId xmlns:a16="http://schemas.microsoft.com/office/drawing/2014/main" id="{86654AC5-7E75-4826-8D68-B4B41405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3333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10" name="at1">
            <a:extLst xmlns:a="http://schemas.openxmlformats.org/drawingml/2006/main">
              <a:ext uri="{FF2B5EF4-FFF2-40B4-BE49-F238E27FC236}">
                <a16:creationId xmlns:a16="http://schemas.microsoft.com/office/drawing/2014/main" id="{B0729D05-4130-43D1-A13F-80727C4E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2838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Light balance</a:t>
            </a:r>
          </a:p>
        </p:txBody>
      </p:sp>
      <p:sp>
        <p:nvSpPr>
          <p:cNvPr id="11" name="ab1">
            <a:extLst xmlns:a="http://schemas.openxmlformats.org/drawingml/2006/main">
              <a:ext uri="{FF2B5EF4-FFF2-40B4-BE49-F238E27FC236}">
                <a16:creationId xmlns:a16="http://schemas.microsoft.com/office/drawing/2014/main" id="{47300B1E-71D8-48E0-844D-E8DB02DE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28384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CLAHE on LAB luminance improves local contrast.</a:t>
            </a:r>
          </a:p>
        </p:txBody>
      </p:sp>
      <p:sp>
        <p:nvSpPr>
          <p:cNvPr id="12" name="a2">
            <a:extLst xmlns:a="http://schemas.openxmlformats.org/drawingml/2006/main">
              <a:ext uri="{FF2B5EF4-FFF2-40B4-BE49-F238E27FC236}">
                <a16:creationId xmlns:a16="http://schemas.microsoft.com/office/drawing/2014/main" id="{3C2903FF-9ACD-4F2B-9932-248C9962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bar2">
            <a:extLst xmlns:a="http://schemas.openxmlformats.org/drawingml/2006/main">
              <a:ext uri="{FF2B5EF4-FFF2-40B4-BE49-F238E27FC236}">
                <a16:creationId xmlns:a16="http://schemas.microsoft.com/office/drawing/2014/main" id="{AACAFE8C-9504-4D16-9A97-448F03E1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33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4" name="at2">
            <a:extLst xmlns:a="http://schemas.openxmlformats.org/drawingml/2006/main">
              <a:ext uri="{FF2B5EF4-FFF2-40B4-BE49-F238E27FC236}">
                <a16:creationId xmlns:a16="http://schemas.microsoft.com/office/drawing/2014/main" id="{BF8FF90A-53AB-422E-A54E-E5AA8A66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2838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Detect</a:t>
            </a:r>
          </a:p>
        </p:txBody>
      </p:sp>
      <p:sp>
        <p:nvSpPr>
          <p:cNvPr id="15" name="ab2">
            <a:extLst xmlns:a="http://schemas.openxmlformats.org/drawingml/2006/main">
              <a:ext uri="{FF2B5EF4-FFF2-40B4-BE49-F238E27FC236}">
                <a16:creationId xmlns:a16="http://schemas.microsoft.com/office/drawing/2014/main" id="{94C46EEB-3377-48B6-87D2-787910A4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28384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SCRFD locates boxes, confidence and 5 landmarks.</a:t>
            </a:r>
          </a:p>
        </p:txBody>
      </p:sp>
      <p:sp>
        <p:nvSpPr>
          <p:cNvPr id="16" name="out">
            <a:extLst xmlns:a="http://schemas.openxmlformats.org/drawingml/2006/main">
              <a:ext uri="{FF2B5EF4-FFF2-40B4-BE49-F238E27FC236}">
                <a16:creationId xmlns:a16="http://schemas.microsoft.com/office/drawing/2014/main" id="{44E3AF89-0A84-4D76-BA70-DEF68BAE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A34A"/>
                </a:solidFill>
              </a:defRPr>
            </a:pPr>
            <a:r>
              <a:rPr sz="1800" b="1">
                <a:solidFill>
                  <a:srgbClr val="16A34A"/>
                </a:solidFill>
              </a:rPr>
              <a:t>Output: one normalized face region ready for recognition.</a:t>
            </a:r>
          </a:p>
        </p:txBody>
      </p:sp>
    </p:spTree>
    <p:extLst>
      <p:ext uri="{BB962C8B-B14F-4D97-AF65-F5344CB8AC3E}">
        <p14:creationId xmlns:p14="http://schemas.microsoft.com/office/powerpoint/2010/main" val="19025973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">
            <a:extLst xmlns:a="http://schemas.openxmlformats.org/drawingml/2006/main">
              <a:ext uri="{FF2B5EF4-FFF2-40B4-BE49-F238E27FC236}">
                <a16:creationId xmlns:a16="http://schemas.microsoft.com/office/drawing/2014/main" id="{6648F34B-A828-464B-ABBF-413FC388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9663D4E-41A2-4033-85A1-FE9610E0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Function 4 | Recognition and identity safety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2AC6258E-CF33-4A2F-9CC2-8464B441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06</a:t>
            </a:r>
          </a:p>
        </p:txBody>
      </p:sp>
      <p:sp>
        <p:nvSpPr>
          <p:cNvPr id="4" name="main">
            <a:extLst xmlns:a="http://schemas.openxmlformats.org/drawingml/2006/main">
              <a:ext uri="{FF2B5EF4-FFF2-40B4-BE49-F238E27FC236}">
                <a16:creationId xmlns:a16="http://schemas.microsoft.com/office/drawing/2014/main" id="{E97E4CB1-F2D8-4172-924C-F709E250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8580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algo">
            <a:extLst xmlns:a="http://schemas.openxmlformats.org/drawingml/2006/main">
              <a:ext uri="{FF2B5EF4-FFF2-40B4-BE49-F238E27FC236}">
                <a16:creationId xmlns:a16="http://schemas.microsoft.com/office/drawing/2014/main" id="{80B44D71-D03A-4F0B-AC9A-A94F0BE0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62125"/>
            <a:ext cx="6000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63EB"/>
                </a:solidFill>
              </a:defRPr>
            </a:pPr>
            <a:r>
              <a:rPr sz="2175" b="1">
                <a:solidFill>
                  <a:srgbClr val="2563EB"/>
                </a:solidFill>
              </a:rPr>
              <a:t>Recognition algorithm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2888BE9-71AE-4BF2-8B15-AAC80A40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6000750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1. Extract a 512-D ArcFace embedding
2. L2-normalize query and enrolled vectors
3. Compare by cosine similarity
4. Require score ≥ 0.60 and margin ≥ 0.08
5. Return MSSV, name, confidence, date and time</a:t>
            </a:r>
          </a:p>
        </p:txBody>
      </p:sp>
      <p:sp>
        <p:nvSpPr>
          <p:cNvPr id="7" name="guard">
            <a:extLst xmlns:a="http://schemas.openxmlformats.org/drawingml/2006/main">
              <a:ext uri="{FF2B5EF4-FFF2-40B4-BE49-F238E27FC236}">
                <a16:creationId xmlns:a16="http://schemas.microsoft.com/office/drawing/2014/main" id="{E9F6438B-7953-438C-A3D4-CB5B1000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04950"/>
            <a:ext cx="3476625" cy="4191000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8" name="gt">
            <a:extLst xmlns:a="http://schemas.openxmlformats.org/drawingml/2006/main">
              <a:ext uri="{FF2B5EF4-FFF2-40B4-BE49-F238E27FC236}">
                <a16:creationId xmlns:a16="http://schemas.microsoft.com/office/drawing/2014/main" id="{2D67BDB4-939C-4653-A58F-AC318823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2857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C2626"/>
                </a:solidFill>
              </a:defRPr>
            </a:pPr>
            <a:r>
              <a:rPr sz="2175" b="1">
                <a:solidFill>
                  <a:srgbClr val="DC2626"/>
                </a:solidFill>
              </a:rPr>
              <a:t>Guardrails</a:t>
            </a:r>
          </a:p>
        </p:txBody>
      </p:sp>
      <p:sp>
        <p:nvSpPr>
          <p:cNvPr id="9" name="gb">
            <a:extLst xmlns:a="http://schemas.openxmlformats.org/drawingml/2006/main">
              <a:ext uri="{FF2B5EF4-FFF2-40B4-BE49-F238E27FC236}">
                <a16:creationId xmlns:a16="http://schemas.microsoft.com/office/drawing/2014/main" id="{D4CA29C1-2AFF-426F-9ED0-D3D1FF03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28875"/>
            <a:ext cx="2809875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• One dominant face only
• Tiny distant bystanders ignored
• Multi-face ambiguity blocks action
• Result bound to face box (IoU)
• Stale worker results invalidated
• Duplicate face / MSSV rejected</a:t>
            </a:r>
          </a:p>
        </p:txBody>
      </p:sp>
    </p:spTree>
    <p:extLst>
      <p:ext uri="{BB962C8B-B14F-4D97-AF65-F5344CB8AC3E}">
        <p14:creationId xmlns:p14="http://schemas.microsoft.com/office/powerpoint/2010/main" val="8276308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">
            <a:extLst xmlns:a="http://schemas.openxmlformats.org/drawingml/2006/main">
              <a:ext uri="{FF2B5EF4-FFF2-40B4-BE49-F238E27FC236}">
                <a16:creationId xmlns:a16="http://schemas.microsoft.com/office/drawing/2014/main" id="{22ACA270-B9A9-4BC8-943B-E95335DE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72E445-ABE7-4D06-B9C8-0C2DBFF4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Data, storage and attendance outputs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46D9693D-A277-4BEA-B8AC-F374D46D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07</a:t>
            </a:r>
          </a:p>
        </p:txBody>
      </p:sp>
      <p:sp>
        <p:nvSpPr>
          <p:cNvPr id="4" name="d0">
            <a:extLst xmlns:a="http://schemas.openxmlformats.org/drawingml/2006/main">
              <a:ext uri="{FF2B5EF4-FFF2-40B4-BE49-F238E27FC236}">
                <a16:creationId xmlns:a16="http://schemas.microsoft.com/office/drawing/2014/main" id="{19666D57-077A-43B9-BEEC-2EF2F632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dt0">
            <a:extLst xmlns:a="http://schemas.openxmlformats.org/drawingml/2006/main">
              <a:ext uri="{FF2B5EF4-FFF2-40B4-BE49-F238E27FC236}">
                <a16:creationId xmlns:a16="http://schemas.microsoft.com/office/drawing/2014/main" id="{85D42736-C2BD-4EF8-AA88-47012E44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285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Enrollment dataset</a:t>
            </a:r>
          </a:p>
        </p:txBody>
      </p:sp>
      <p:sp>
        <p:nvSpPr>
          <p:cNvPr id="6" name="db0">
            <a:extLst xmlns:a="http://schemas.openxmlformats.org/drawingml/2006/main">
              <a:ext uri="{FF2B5EF4-FFF2-40B4-BE49-F238E27FC236}">
                <a16:creationId xmlns:a16="http://schemas.microsoft.com/office/drawing/2014/main" id="{FB61A51A-A173-4099-853B-36A45E42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2857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Class/MSSV/name folder
Face JPEG + embeddings.npy
Biometric workbook</a:t>
            </a:r>
          </a:p>
        </p:txBody>
      </p:sp>
      <p:sp>
        <p:nvSpPr>
          <p:cNvPr id="7" name="d1">
            <a:extLst xmlns:a="http://schemas.openxmlformats.org/drawingml/2006/main">
              <a:ext uri="{FF2B5EF4-FFF2-40B4-BE49-F238E27FC236}">
                <a16:creationId xmlns:a16="http://schemas.microsoft.com/office/drawing/2014/main" id="{00B1C530-6B5E-4BBB-B190-9F174107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dt1">
            <a:extLst xmlns:a="http://schemas.openxmlformats.org/drawingml/2006/main">
              <a:ext uri="{FF2B5EF4-FFF2-40B4-BE49-F238E27FC236}">
                <a16:creationId xmlns:a16="http://schemas.microsoft.com/office/drawing/2014/main" id="{9A524D64-203F-47DA-846F-1D552EBA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43125"/>
            <a:ext cx="285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Operational records</a:t>
            </a:r>
          </a:p>
        </p:txBody>
      </p:sp>
      <p:sp>
        <p:nvSpPr>
          <p:cNvPr id="9" name="db1">
            <a:extLst xmlns:a="http://schemas.openxmlformats.org/drawingml/2006/main">
              <a:ext uri="{FF2B5EF4-FFF2-40B4-BE49-F238E27FC236}">
                <a16:creationId xmlns:a16="http://schemas.microsoft.com/office/drawing/2014/main" id="{7ED1F9E9-74B7-4C23-812C-9F7E781C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857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SQLite attendance database
Atomic duplicate prevention
Timestamp + confidence</a:t>
            </a:r>
          </a:p>
        </p:txBody>
      </p:sp>
      <p:sp>
        <p:nvSpPr>
          <p:cNvPr id="10" name="d2">
            <a:extLst xmlns:a="http://schemas.openxmlformats.org/drawingml/2006/main">
              <a:ext uri="{FF2B5EF4-FFF2-40B4-BE49-F238E27FC236}">
                <a16:creationId xmlns:a16="http://schemas.microsoft.com/office/drawing/2014/main" id="{CB96AB01-4E0B-4732-A233-124C0634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dt2">
            <a:extLst xmlns:a="http://schemas.openxmlformats.org/drawingml/2006/main">
              <a:ext uri="{FF2B5EF4-FFF2-40B4-BE49-F238E27FC236}">
                <a16:creationId xmlns:a16="http://schemas.microsoft.com/office/drawing/2014/main" id="{F297ADA2-D462-4DCB-8014-D9755A43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43125"/>
            <a:ext cx="285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A34A"/>
                </a:solidFill>
              </a:defRPr>
            </a:pPr>
            <a:r>
              <a:rPr sz="1950" b="1">
                <a:solidFill>
                  <a:srgbClr val="16A34A"/>
                </a:solidFill>
              </a:rPr>
              <a:t>Class report</a:t>
            </a:r>
          </a:p>
        </p:txBody>
      </p:sp>
      <p:sp>
        <p:nvSpPr>
          <p:cNvPr id="12" name="db2">
            <a:extLst xmlns:a="http://schemas.openxmlformats.org/drawingml/2006/main">
              <a:ext uri="{FF2B5EF4-FFF2-40B4-BE49-F238E27FC236}">
                <a16:creationId xmlns:a16="http://schemas.microsoft.com/office/drawing/2014/main" id="{6A9E8355-32E7-42E2-B75A-5732BAAC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00375"/>
            <a:ext cx="2857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attendance.xlsx
Present / absent by slot
Student ID and full name</a:t>
            </a:r>
          </a:p>
        </p:txBody>
      </p:sp>
      <p:sp>
        <p:nvSpPr>
          <p:cNvPr id="13" name="privacy">
            <a:extLst xmlns:a="http://schemas.openxmlformats.org/drawingml/2006/main">
              <a:ext uri="{FF2B5EF4-FFF2-40B4-BE49-F238E27FC236}">
                <a16:creationId xmlns:a16="http://schemas.microsoft.com/office/drawing/2014/main" id="{9DD53264-FE26-4498-AFC3-B0EB264C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76875"/>
            <a:ext cx="971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Local-first storage: no face data is uploaded by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1757616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">
            <a:extLst xmlns:a="http://schemas.openxmlformats.org/drawingml/2006/main">
              <a:ext uri="{FF2B5EF4-FFF2-40B4-BE49-F238E27FC236}">
                <a16:creationId xmlns:a16="http://schemas.microsoft.com/office/drawing/2014/main" id="{331F666C-55DB-468F-9C07-09ABBCED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D9438DE-8E50-40B0-9263-646B7332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Demo plan and completion status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91E07CD8-B1A7-4F35-A376-428BB9D2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08</a:t>
            </a:r>
          </a:p>
        </p:txBody>
      </p:sp>
      <p:sp>
        <p:nvSpPr>
          <p:cNvPr id="4" name="n0">
            <a:extLst xmlns:a="http://schemas.openxmlformats.org/drawingml/2006/main">
              <a:ext uri="{FF2B5EF4-FFF2-40B4-BE49-F238E27FC236}">
                <a16:creationId xmlns:a16="http://schemas.microsoft.com/office/drawing/2014/main" id="{DDAB5958-0EFA-44C3-ABB4-7B1F6B44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191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5" name="h0">
            <a:extLst xmlns:a="http://schemas.openxmlformats.org/drawingml/2006/main">
              <a:ext uri="{FF2B5EF4-FFF2-40B4-BE49-F238E27FC236}">
                <a16:creationId xmlns:a16="http://schemas.microsoft.com/office/drawing/2014/main" id="{0943B52C-07DC-436F-9643-02CADF02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476375"/>
            <a:ext cx="2095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Choose RTSP</a:t>
            </a:r>
          </a:p>
        </p:txBody>
      </p:sp>
      <p:sp>
        <p:nvSpPr>
          <p:cNvPr id="6" name="b0">
            <a:extLst xmlns:a="http://schemas.openxmlformats.org/drawingml/2006/main">
              <a:ext uri="{FF2B5EF4-FFF2-40B4-BE49-F238E27FC236}">
                <a16:creationId xmlns:a16="http://schemas.microsoft.com/office/drawing/2014/main" id="{B74DE251-0CC2-4CB4-8959-87C17722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476375"/>
            <a:ext cx="7239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Start a session and connect the IP camera.</a:t>
            </a:r>
          </a:p>
        </p:txBody>
      </p:sp>
      <p:sp>
        <p:nvSpPr>
          <p:cNvPr id="7" name="n1">
            <a:extLst xmlns:a="http://schemas.openxmlformats.org/drawingml/2006/main">
              <a:ext uri="{FF2B5EF4-FFF2-40B4-BE49-F238E27FC236}">
                <a16:creationId xmlns:a16="http://schemas.microsoft.com/office/drawing/2014/main" id="{1EE3EB07-5152-4CDF-940E-90546A6F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6191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8" name="h1">
            <a:extLst xmlns:a="http://schemas.openxmlformats.org/drawingml/2006/main">
              <a:ext uri="{FF2B5EF4-FFF2-40B4-BE49-F238E27FC236}">
                <a16:creationId xmlns:a16="http://schemas.microsoft.com/office/drawing/2014/main" id="{333962D1-C97B-437F-9370-B3E3BB6A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71750"/>
            <a:ext cx="2095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Enroll</a:t>
            </a:r>
          </a:p>
        </p:txBody>
      </p:sp>
      <p:sp>
        <p:nvSpPr>
          <p:cNvPr id="9" name="b1">
            <a:extLst xmlns:a="http://schemas.openxmlformats.org/drawingml/2006/main">
              <a:ext uri="{FF2B5EF4-FFF2-40B4-BE49-F238E27FC236}">
                <a16:creationId xmlns:a16="http://schemas.microsoft.com/office/drawing/2014/main" id="{692E4404-5200-4064-BD96-9A5770F2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71750"/>
            <a:ext cx="7239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Enter MSSV/name with one stable primary face.</a:t>
            </a:r>
          </a:p>
        </p:txBody>
      </p:sp>
      <p:sp>
        <p:nvSpPr>
          <p:cNvPr id="10" name="n2">
            <a:extLst xmlns:a="http://schemas.openxmlformats.org/drawingml/2006/main">
              <a:ext uri="{FF2B5EF4-FFF2-40B4-BE49-F238E27FC236}">
                <a16:creationId xmlns:a16="http://schemas.microsoft.com/office/drawing/2014/main" id="{A51A2CFC-303D-4360-8915-B1B2313C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6191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1" name="h2">
            <a:extLst xmlns:a="http://schemas.openxmlformats.org/drawingml/2006/main">
              <a:ext uri="{FF2B5EF4-FFF2-40B4-BE49-F238E27FC236}">
                <a16:creationId xmlns:a16="http://schemas.microsoft.com/office/drawing/2014/main" id="{C2D13B9B-4126-473B-B000-8F5C3383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67125"/>
            <a:ext cx="2095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Recognize</a:t>
            </a:r>
          </a:p>
        </p:txBody>
      </p:sp>
      <p:sp>
        <p:nvSpPr>
          <p:cNvPr id="12" name="b2">
            <a:extLst xmlns:a="http://schemas.openxmlformats.org/drawingml/2006/main">
              <a:ext uri="{FF2B5EF4-FFF2-40B4-BE49-F238E27FC236}">
                <a16:creationId xmlns:a16="http://schemas.microsoft.com/office/drawing/2014/main" id="{F13EF993-D3D1-4C66-904A-214767D8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67125"/>
            <a:ext cx="7239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Auto Recognize writes identity and time.</a:t>
            </a:r>
          </a:p>
        </p:txBody>
      </p:sp>
      <p:sp>
        <p:nvSpPr>
          <p:cNvPr id="13" name="n3">
            <a:extLst xmlns:a="http://schemas.openxmlformats.org/drawingml/2006/main">
              <a:ext uri="{FF2B5EF4-FFF2-40B4-BE49-F238E27FC236}">
                <a16:creationId xmlns:a16="http://schemas.microsoft.com/office/drawing/2014/main" id="{E23AB119-E835-4D66-991F-05D245BD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6191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4" name="h3">
            <a:extLst xmlns:a="http://schemas.openxmlformats.org/drawingml/2006/main">
              <a:ext uri="{FF2B5EF4-FFF2-40B4-BE49-F238E27FC236}">
                <a16:creationId xmlns:a16="http://schemas.microsoft.com/office/drawing/2014/main" id="{9018911D-B6BB-4013-9BB2-BEC22335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62500"/>
            <a:ext cx="2095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Verify</a:t>
            </a:r>
          </a:p>
        </p:txBody>
      </p:sp>
      <p:sp>
        <p:nvSpPr>
          <p:cNvPr id="15" name="b3">
            <a:extLst xmlns:a="http://schemas.openxmlformats.org/drawingml/2006/main">
              <a:ext uri="{FF2B5EF4-FFF2-40B4-BE49-F238E27FC236}">
                <a16:creationId xmlns:a16="http://schemas.microsoft.com/office/drawing/2014/main" id="{C6905789-CAD5-4802-93DE-9F3F1B18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762500"/>
            <a:ext cx="7239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Open log and attendance.xlsx; test a distant bystander.</a:t>
            </a:r>
          </a:p>
        </p:txBody>
      </p:sp>
      <p:sp>
        <p:nvSpPr>
          <p:cNvPr id="16" name="done">
            <a:extLst xmlns:a="http://schemas.openxmlformats.org/drawingml/2006/main">
              <a:ext uri="{FF2B5EF4-FFF2-40B4-BE49-F238E27FC236}">
                <a16:creationId xmlns:a16="http://schemas.microsoft.com/office/drawing/2014/main" id="{45D55287-7104-4D3C-BE49-BDADFABE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857875"/>
            <a:ext cx="2762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17" name="done-t">
            <a:extLst xmlns:a="http://schemas.openxmlformats.org/drawingml/2006/main">
              <a:ext uri="{FF2B5EF4-FFF2-40B4-BE49-F238E27FC236}">
                <a16:creationId xmlns:a16="http://schemas.microsoft.com/office/drawing/2014/main" id="{C7858668-715E-4127-951C-8E47953C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90550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READY FOR DEMO</a:t>
            </a:r>
          </a:p>
        </p:txBody>
      </p:sp>
    </p:spTree>
    <p:extLst>
      <p:ext uri="{BB962C8B-B14F-4D97-AF65-F5344CB8AC3E}">
        <p14:creationId xmlns:p14="http://schemas.microsoft.com/office/powerpoint/2010/main" val="13621965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2026-06-30T09:14:34.2330000Z</dcterms:created>
  <dcterms:modified xsi:type="dcterms:W3CDTF">2026-06-30T09:14:34.2340000Z</dcterms:modified>
</coreProperties>
</file>